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140" r:id="rId1"/>
  </p:sldMasterIdLst>
  <p:notesMasterIdLst>
    <p:notesMasterId r:id="rId14"/>
  </p:notesMasterIdLst>
  <p:handoutMasterIdLst>
    <p:handoutMasterId r:id="rId15"/>
  </p:handoutMasterIdLst>
  <p:sldIdLst>
    <p:sldId id="298" r:id="rId2"/>
    <p:sldId id="303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1" r:id="rId11"/>
    <p:sldId id="312" r:id="rId12"/>
    <p:sldId id="302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227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1881"/>
    <p:restoredTop sz="94694"/>
  </p:normalViewPr>
  <p:slideViewPr>
    <p:cSldViewPr snapToGrid="0" snapToObjects="1">
      <p:cViewPr varScale="1">
        <p:scale>
          <a:sx n="108" d="100"/>
          <a:sy n="108" d="100"/>
        </p:scale>
        <p:origin x="318" y="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9" d="100"/>
          <a:sy n="99" d="100"/>
        </p:scale>
        <p:origin x="4272" y="1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 Bilgi Yer Tutucusu 1">
            <a:extLst>
              <a:ext uri="{FF2B5EF4-FFF2-40B4-BE49-F238E27FC236}">
                <a16:creationId xmlns:a16="http://schemas.microsoft.com/office/drawing/2014/main" id="{1E5FF1B3-8F25-8E58-4BFA-0EB8A6E5E8E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70A23DBB-8436-AA6A-5BB3-596A54770AD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0C8B23-8598-8048-98D2-77B1E720DCD8}" type="datetimeFigureOut">
              <a:rPr lang="tr-TR" smtClean="0"/>
              <a:t>17.01.2026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25049CFA-2B2C-3239-B265-3C8BFD1E24C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08243CB8-F62E-1476-EB99-46B88B7CE18A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DF8DEA-B0DB-2F48-BAFC-F02721F1706D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99314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Üstbilgi Yer Tutucusu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3" name="Veri Yer Tutucusu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08C551-22FF-4CB8-B8F2-5188D8B377D2}" type="datetimeFigureOut">
              <a:rPr lang="tr-TR" smtClean="0"/>
              <a:t>17.01.2026</a:t>
            </a:fld>
            <a:endParaRPr lang="tr-TR"/>
          </a:p>
        </p:txBody>
      </p:sp>
      <p:sp>
        <p:nvSpPr>
          <p:cNvPr id="4" name="Slayt Görüntüsü Yer Tutucus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r-TR"/>
          </a:p>
        </p:txBody>
      </p:sp>
      <p:sp>
        <p:nvSpPr>
          <p:cNvPr id="5" name="Not Yer Tutucusu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tr-TR"/>
              <a:t>Asıl metin stillerini düzenle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6" name="Altbilgi Yer Tutucusu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r-TR"/>
          </a:p>
        </p:txBody>
      </p:sp>
      <p:sp>
        <p:nvSpPr>
          <p:cNvPr id="7" name="Slayt Numarası Yer Tutucus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9A691B-61CC-4BE4-AE7E-A966C5B1D842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37599125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1pPr>
    <a:lvl2pPr marL="305044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2pPr>
    <a:lvl3pPr marL="610088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3pPr>
    <a:lvl4pPr marL="915132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4pPr>
    <a:lvl5pPr marL="1220175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5pPr>
    <a:lvl6pPr marL="1525219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6pPr>
    <a:lvl7pPr marL="1830263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7pPr>
    <a:lvl8pPr marL="2135307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8pPr>
    <a:lvl9pPr marL="2440351" algn="l" defTabSz="610088" rtl="0" eaLnBrk="1" latinLnBrk="0" hangingPunct="1">
      <a:defRPr sz="80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ayt Resmi Yer Tutucusu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 Yer Tutucusu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9A691B-61CC-4BE4-AE7E-A966C5B1D842}" type="slidenum">
              <a:rPr lang="tr-TR" smtClean="0"/>
              <a:t>12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6700811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74A47F-A299-DF43-A839-C104F09B14F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7238" y="781312"/>
            <a:ext cx="2037523" cy="11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362977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rbest Form: Şekil 12">
            <a:extLst>
              <a:ext uri="{FF2B5EF4-FFF2-40B4-BE49-F238E27FC236}">
                <a16:creationId xmlns:a16="http://schemas.microsoft.com/office/drawing/2014/main" id="{248D3615-3F51-DDA0-300A-8B54E9526CEC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A5E1486-EEE5-8693-C1E0-ACEC5AFA306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1235131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erbest Form: Şekil 12">
            <a:extLst>
              <a:ext uri="{FF2B5EF4-FFF2-40B4-BE49-F238E27FC236}">
                <a16:creationId xmlns:a16="http://schemas.microsoft.com/office/drawing/2014/main" id="{DBF10744-F389-0340-3BC7-35F3D211563F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6B8AE1-698D-7C6C-031B-6C777DA6AB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3285668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erbest Form: Şekil 12">
            <a:extLst>
              <a:ext uri="{FF2B5EF4-FFF2-40B4-BE49-F238E27FC236}">
                <a16:creationId xmlns:a16="http://schemas.microsoft.com/office/drawing/2014/main" id="{A430380A-12CA-A86A-A583-C2449C2B4493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5022C0E-BE2C-B3FC-347F-19994F0A4C2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0604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erbest Form: Şekil 12">
            <a:extLst>
              <a:ext uri="{FF2B5EF4-FFF2-40B4-BE49-F238E27FC236}">
                <a16:creationId xmlns:a16="http://schemas.microsoft.com/office/drawing/2014/main" id="{57AE21E1-8BBC-B9D8-9C55-81A29697894B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000E3A3-59A2-9E31-012C-BE3BC5BE01F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5307030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erbest Form: Şekil 12">
            <a:extLst>
              <a:ext uri="{FF2B5EF4-FFF2-40B4-BE49-F238E27FC236}">
                <a16:creationId xmlns:a16="http://schemas.microsoft.com/office/drawing/2014/main" id="{6B48B561-3DCA-064F-76D5-189BBDB9E0AD}"/>
              </a:ext>
            </a:extLst>
          </p:cNvPr>
          <p:cNvSpPr/>
          <p:nvPr userDrawn="1"/>
        </p:nvSpPr>
        <p:spPr>
          <a:xfrm>
            <a:off x="7474621" y="474917"/>
            <a:ext cx="4926227" cy="511047"/>
          </a:xfrm>
          <a:custGeom>
            <a:avLst/>
            <a:gdLst>
              <a:gd name="connsiteX0" fmla="*/ 137921 w 4038600"/>
              <a:gd name="connsiteY0" fmla="*/ 0 h 511047"/>
              <a:gd name="connsiteX1" fmla="*/ 4038600 w 4038600"/>
              <a:gd name="connsiteY1" fmla="*/ 0 h 511047"/>
              <a:gd name="connsiteX2" fmla="*/ 4038600 w 4038600"/>
              <a:gd name="connsiteY2" fmla="*/ 511047 h 511047"/>
              <a:gd name="connsiteX3" fmla="*/ 137921 w 4038600"/>
              <a:gd name="connsiteY3" fmla="*/ 511047 h 511047"/>
              <a:gd name="connsiteX4" fmla="*/ 0 w 4038600"/>
              <a:gd name="connsiteY4" fmla="*/ 255524 h 511047"/>
              <a:gd name="connsiteX5" fmla="*/ 137921 w 4038600"/>
              <a:gd name="connsiteY5" fmla="*/ 0 h 51104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038600" h="511047">
                <a:moveTo>
                  <a:pt x="137921" y="0"/>
                </a:moveTo>
                <a:lnTo>
                  <a:pt x="4038600" y="0"/>
                </a:lnTo>
                <a:lnTo>
                  <a:pt x="4038600" y="511047"/>
                </a:lnTo>
                <a:lnTo>
                  <a:pt x="137921" y="511047"/>
                </a:lnTo>
                <a:lnTo>
                  <a:pt x="0" y="255524"/>
                </a:lnTo>
                <a:lnTo>
                  <a:pt x="137921" y="0"/>
                </a:lnTo>
                <a:close/>
              </a:path>
            </a:pathLst>
          </a:custGeom>
          <a:solidFill>
            <a:srgbClr val="01285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tr-TR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2890A2D-C58B-F9FA-DB75-7B853F29061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52837" y="337905"/>
            <a:ext cx="1396449" cy="7850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1522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3629AEA6-C2F2-0760-B9C4-CFE242806B35}"/>
              </a:ext>
            </a:extLst>
          </p:cNvPr>
          <p:cNvSpPr txBox="1"/>
          <p:nvPr userDrawn="1"/>
        </p:nvSpPr>
        <p:spPr>
          <a:xfrm>
            <a:off x="4806439" y="6313223"/>
            <a:ext cx="2579123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tr-TR" sz="1200" b="1" i="0" dirty="0">
                <a:solidFill>
                  <a:srgbClr val="002755"/>
                </a:solidFill>
                <a:latin typeface="Helvetica" pitchFamily="2" charset="0"/>
              </a:rPr>
              <a:t>Sunumu Hazırlayan</a:t>
            </a:r>
            <a:endParaRPr lang="tr-TR" sz="1200" b="0" i="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  <p:sp>
        <p:nvSpPr>
          <p:cNvPr id="7" name="Metin kutusu 6">
            <a:extLst>
              <a:ext uri="{FF2B5EF4-FFF2-40B4-BE49-F238E27FC236}">
                <a16:creationId xmlns:a16="http://schemas.microsoft.com/office/drawing/2014/main" id="{0FDDA638-4233-C2CB-ED58-408C37035315}"/>
              </a:ext>
            </a:extLst>
          </p:cNvPr>
          <p:cNvSpPr txBox="1"/>
          <p:nvPr userDrawn="1"/>
        </p:nvSpPr>
        <p:spPr>
          <a:xfrm>
            <a:off x="5150472" y="4700383"/>
            <a:ext cx="189105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400" b="1" dirty="0">
                <a:solidFill>
                  <a:srgbClr val="012855"/>
                </a:solidFill>
                <a:latin typeface="Helvetica" pitchFamily="2" charset="0"/>
              </a:rPr>
              <a:t>Teşekkürler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9AB56F4-AD76-6F23-90D0-2E430401AB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077238" y="781312"/>
            <a:ext cx="2037523" cy="1145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136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Resim 6">
            <a:extLst>
              <a:ext uri="{FF2B5EF4-FFF2-40B4-BE49-F238E27FC236}">
                <a16:creationId xmlns:a16="http://schemas.microsoft.com/office/drawing/2014/main" id="{3335444E-53CF-0493-F065-253DE939741F}"/>
              </a:ext>
            </a:extLst>
          </p:cNvPr>
          <p:cNvPicPr>
            <a:picLocks noChangeAspect="1"/>
          </p:cNvPicPr>
          <p:nvPr userDrawn="1"/>
        </p:nvPicPr>
        <p:blipFill>
          <a:blip r:embed="rId9"/>
          <a:stretch>
            <a:fillRect/>
          </a:stretch>
        </p:blipFill>
        <p:spPr>
          <a:xfrm>
            <a:off x="794" y="1"/>
            <a:ext cx="12191206" cy="6858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178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1" r:id="rId1"/>
    <p:sldLayoutId id="2147484144" r:id="rId2"/>
    <p:sldLayoutId id="2147484151" r:id="rId3"/>
    <p:sldLayoutId id="2147484146" r:id="rId4"/>
    <p:sldLayoutId id="2147484147" r:id="rId5"/>
    <p:sldLayoutId id="2147484148" r:id="rId6"/>
    <p:sldLayoutId id="2147484149" r:id="rId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53EF0E96-9262-B578-FD5E-849D180DD9E7}"/>
              </a:ext>
            </a:extLst>
          </p:cNvPr>
          <p:cNvSpPr txBox="1"/>
          <p:nvPr/>
        </p:nvSpPr>
        <p:spPr>
          <a:xfrm>
            <a:off x="2048256" y="2659559"/>
            <a:ext cx="8010144" cy="2400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Turkish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Super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League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Attendance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Rate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Prediction</a:t>
            </a:r>
            <a:endParaRPr lang="tr-TR" sz="5000" b="1" dirty="0">
              <a:solidFill>
                <a:srgbClr val="012855"/>
              </a:solidFill>
              <a:latin typeface="Helvetica" pitchFamily="2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7E6A8A9F-8EE3-0A8E-A6D4-55A941C78445}"/>
              </a:ext>
            </a:extLst>
          </p:cNvPr>
          <p:cNvSpPr txBox="1"/>
          <p:nvPr/>
        </p:nvSpPr>
        <p:spPr>
          <a:xfrm>
            <a:off x="4017016" y="5791782"/>
            <a:ext cx="415796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>
                <a:solidFill>
                  <a:srgbClr val="012855"/>
                </a:solidFill>
                <a:latin typeface="Helvetica Light" panose="020B0403020202020204" pitchFamily="34" charset="0"/>
              </a:rPr>
              <a:t>18.01.2025</a:t>
            </a:r>
            <a:endParaRPr lang="tr-TR" sz="2000" dirty="0">
              <a:solidFill>
                <a:srgbClr val="012855"/>
              </a:solidFill>
              <a:latin typeface="Helvetica Light" panose="020B0403020202020204" pitchFamily="34" charset="0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76CC2FF8-8855-09C8-DA57-95A1C90806F5}"/>
              </a:ext>
            </a:extLst>
          </p:cNvPr>
          <p:cNvSpPr txBox="1"/>
          <p:nvPr/>
        </p:nvSpPr>
        <p:spPr>
          <a:xfrm>
            <a:off x="3877941" y="6191892"/>
            <a:ext cx="5142967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400" b="1" dirty="0">
                <a:solidFill>
                  <a:srgbClr val="002755"/>
                </a:solidFill>
                <a:latin typeface="Helvetica" pitchFamily="2" charset="0"/>
              </a:rPr>
              <a:t>Ahmet Utku Alkan / 040220116</a:t>
            </a:r>
            <a:endParaRPr lang="tr-TR" sz="2400" dirty="0">
              <a:solidFill>
                <a:srgbClr val="002755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34560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 flipH="1">
            <a:off x="7951092" y="569742"/>
            <a:ext cx="3638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PROBLEM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886433" y="2518786"/>
            <a:ext cx="83982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Predict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attendance</a:t>
            </a:r>
            <a:r>
              <a:rPr lang="tr-TR" dirty="0" smtClean="0"/>
              <a:t> in </a:t>
            </a:r>
            <a:r>
              <a:rPr lang="tr-TR" dirty="0" err="1" smtClean="0"/>
              <a:t>football</a:t>
            </a:r>
            <a:r>
              <a:rPr lang="tr-TR" dirty="0" smtClean="0"/>
              <a:t> </a:t>
            </a:r>
            <a:r>
              <a:rPr lang="tr-TR" dirty="0" err="1" smtClean="0"/>
              <a:t>matches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important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Economic</a:t>
            </a:r>
            <a:r>
              <a:rPr lang="tr-TR" dirty="0" smtClean="0"/>
              <a:t> </a:t>
            </a:r>
            <a:r>
              <a:rPr lang="tr-TR" dirty="0" err="1" smtClean="0"/>
              <a:t>plans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teams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Security </a:t>
            </a:r>
            <a:r>
              <a:rPr lang="tr-TR" dirty="0" err="1" smtClean="0"/>
              <a:t>planning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/>
              <a:t>O</a:t>
            </a:r>
            <a:r>
              <a:rPr lang="tr-TR" dirty="0" err="1" smtClean="0"/>
              <a:t>bserving</a:t>
            </a:r>
            <a:r>
              <a:rPr lang="tr-TR" dirty="0" smtClean="0"/>
              <a:t> </a:t>
            </a:r>
            <a:r>
              <a:rPr lang="tr-TR" dirty="0" err="1" smtClean="0"/>
              <a:t>football</a:t>
            </a:r>
            <a:r>
              <a:rPr lang="tr-TR" dirty="0" smtClean="0"/>
              <a:t> </a:t>
            </a:r>
            <a:r>
              <a:rPr lang="tr-TR" dirty="0" err="1" smtClean="0"/>
              <a:t>fans</a:t>
            </a:r>
            <a:r>
              <a:rPr lang="tr-TR" dirty="0" smtClean="0"/>
              <a:t>’ </a:t>
            </a:r>
            <a:r>
              <a:rPr lang="tr-TR" dirty="0" err="1" smtClean="0"/>
              <a:t>behaviors</a:t>
            </a:r>
            <a:r>
              <a:rPr lang="tr-TR" dirty="0" smtClean="0"/>
              <a:t> in Türkiye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</p:txBody>
      </p:sp>
      <p:sp>
        <p:nvSpPr>
          <p:cNvPr id="4" name="Metin kutusu 3"/>
          <p:cNvSpPr txBox="1"/>
          <p:nvPr/>
        </p:nvSpPr>
        <p:spPr>
          <a:xfrm>
            <a:off x="886433" y="4483223"/>
            <a:ext cx="72455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The</a:t>
            </a:r>
            <a:r>
              <a:rPr lang="tr-TR" dirty="0" smtClean="0"/>
              <a:t> model </a:t>
            </a:r>
            <a:r>
              <a:rPr lang="tr-TR" dirty="0" err="1" smtClean="0"/>
              <a:t>aims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make</a:t>
            </a:r>
            <a:r>
              <a:rPr lang="tr-TR" dirty="0" smtClean="0"/>
              <a:t> an </a:t>
            </a:r>
            <a:r>
              <a:rPr lang="tr-TR" dirty="0" err="1" smtClean="0"/>
              <a:t>impact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predictions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occupancy</a:t>
            </a:r>
            <a:r>
              <a:rPr lang="tr-TR" dirty="0" smtClean="0"/>
              <a:t> </a:t>
            </a:r>
            <a:r>
              <a:rPr lang="tr-TR" dirty="0" err="1" smtClean="0"/>
              <a:t>rates</a:t>
            </a:r>
            <a:r>
              <a:rPr lang="tr-TR" dirty="0" smtClean="0"/>
              <a:t>. 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43983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72548" y="505097"/>
            <a:ext cx="43194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>
                <a:solidFill>
                  <a:schemeClr val="bg1"/>
                </a:solidFill>
              </a:rPr>
              <a:t>Literature</a:t>
            </a:r>
            <a:r>
              <a:rPr lang="tr-TR" dirty="0" smtClean="0">
                <a:solidFill>
                  <a:schemeClr val="bg1"/>
                </a:solidFill>
              </a:rPr>
              <a:t> </a:t>
            </a:r>
            <a:r>
              <a:rPr lang="tr-TR" dirty="0" err="1" smtClean="0">
                <a:solidFill>
                  <a:schemeClr val="bg1"/>
                </a:solidFill>
              </a:rPr>
              <a:t>Review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753125" y="1631885"/>
            <a:ext cx="751549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Classical studies model attendance using linear or log-linear demand equations, emphasizing factors such as home team quality, outcome uncertainty, and derby </a:t>
            </a:r>
            <a:r>
              <a:rPr lang="en-US" dirty="0" smtClean="0"/>
              <a:t>effects</a:t>
            </a:r>
            <a:r>
              <a:rPr lang="tr-TR" dirty="0" smtClean="0"/>
              <a:t>[1]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M</a:t>
            </a:r>
            <a:r>
              <a:rPr lang="en-US" dirty="0" err="1" smtClean="0"/>
              <a:t>achine</a:t>
            </a:r>
            <a:r>
              <a:rPr lang="en-US" dirty="0" smtClean="0"/>
              <a:t> </a:t>
            </a:r>
            <a:r>
              <a:rPr lang="en-US" dirty="0"/>
              <a:t>learning techniques, including tree-based boosting models, which have shown improved performance in leagues like the </a:t>
            </a:r>
            <a:r>
              <a:rPr lang="tr-TR" dirty="0" err="1" smtClean="0"/>
              <a:t>footbal</a:t>
            </a:r>
            <a:r>
              <a:rPr lang="tr-TR" dirty="0" smtClean="0"/>
              <a:t> </a:t>
            </a:r>
            <a:r>
              <a:rPr lang="tr-TR" dirty="0" err="1" smtClean="0"/>
              <a:t>leagues</a:t>
            </a:r>
            <a:r>
              <a:rPr lang="tr-TR" dirty="0" smtClean="0"/>
              <a:t> &amp; </a:t>
            </a:r>
            <a:r>
              <a:rPr lang="en-US" dirty="0" smtClean="0"/>
              <a:t>NFL</a:t>
            </a:r>
            <a:r>
              <a:rPr lang="tr-TR" dirty="0" smtClean="0"/>
              <a:t>[2]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[1] </a:t>
            </a:r>
            <a:r>
              <a:rPr lang="en-US" dirty="0"/>
              <a:t>J. </a:t>
            </a:r>
            <a:r>
              <a:rPr lang="en-US" dirty="0" err="1"/>
              <a:t>García</a:t>
            </a:r>
            <a:r>
              <a:rPr lang="en-US" dirty="0"/>
              <a:t>, P. Rodríguez, and A. Pérez, "Attendance at Spanish football matches: Evidence from the First Division," Applied Economics, vol. 44, no. 1, pp. 21–34, 2012. 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[2]</a:t>
            </a:r>
            <a:r>
              <a:rPr lang="en-US" dirty="0"/>
              <a:t> A. </a:t>
            </a:r>
            <a:r>
              <a:rPr lang="en-US" dirty="0" err="1"/>
              <a:t>Arboretti</a:t>
            </a:r>
            <a:r>
              <a:rPr lang="en-US" dirty="0"/>
              <a:t>, R. </a:t>
            </a:r>
            <a:r>
              <a:rPr lang="en-US" dirty="0" err="1"/>
              <a:t>Montella</a:t>
            </a:r>
            <a:r>
              <a:rPr lang="en-US" dirty="0"/>
              <a:t>, and S. </a:t>
            </a:r>
            <a:r>
              <a:rPr lang="en-US" dirty="0" err="1"/>
              <a:t>Salini</a:t>
            </a:r>
            <a:r>
              <a:rPr lang="en-US" dirty="0"/>
              <a:t>, "Forecasting stadium attendance using machine learning methods: Evidence from the National Football League," Expert Systems with Applications, vol. 189, pp. 116038, 2022. </a:t>
            </a:r>
            <a:endParaRPr lang="tr-TR" dirty="0" smtClean="0"/>
          </a:p>
        </p:txBody>
      </p:sp>
    </p:spTree>
    <p:extLst>
      <p:ext uri="{BB962C8B-B14F-4D97-AF65-F5344CB8AC3E}">
        <p14:creationId xmlns:p14="http://schemas.microsoft.com/office/powerpoint/2010/main" val="1336671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903532" y="548640"/>
            <a:ext cx="31612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My </a:t>
            </a:r>
            <a:r>
              <a:rPr lang="tr-TR" dirty="0" err="1" smtClean="0">
                <a:solidFill>
                  <a:schemeClr val="bg1"/>
                </a:solidFill>
              </a:rPr>
              <a:t>Specific</a:t>
            </a:r>
            <a:r>
              <a:rPr lang="tr-TR" dirty="0" smtClean="0">
                <a:solidFill>
                  <a:schemeClr val="bg1"/>
                </a:solidFill>
              </a:rPr>
              <a:t> </a:t>
            </a:r>
            <a:r>
              <a:rPr lang="tr-TR" dirty="0" err="1" smtClean="0">
                <a:solidFill>
                  <a:schemeClr val="bg1"/>
                </a:solidFill>
              </a:rPr>
              <a:t>Approach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579288" y="2008331"/>
            <a:ext cx="5696944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dirty="0" err="1" smtClean="0"/>
              <a:t>Hybrid</a:t>
            </a:r>
            <a:r>
              <a:rPr lang="tr-TR" dirty="0" smtClean="0"/>
              <a:t> Model: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Rule-based</a:t>
            </a:r>
            <a:r>
              <a:rPr lang="tr-TR" dirty="0" smtClean="0"/>
              <a:t> </a:t>
            </a:r>
            <a:r>
              <a:rPr lang="tr-TR" dirty="0" err="1" smtClean="0"/>
              <a:t>statistical</a:t>
            </a:r>
            <a:r>
              <a:rPr lang="tr-TR" dirty="0" smtClean="0"/>
              <a:t> </a:t>
            </a:r>
            <a:r>
              <a:rPr lang="tr-TR" dirty="0" err="1" smtClean="0"/>
              <a:t>methods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Machine Learning Model – </a:t>
            </a:r>
            <a:r>
              <a:rPr lang="tr-TR" dirty="0" err="1" smtClean="0"/>
              <a:t>Gradient</a:t>
            </a:r>
            <a:r>
              <a:rPr lang="tr-TR" dirty="0" smtClean="0"/>
              <a:t> </a:t>
            </a:r>
            <a:r>
              <a:rPr lang="tr-TR" dirty="0" err="1" smtClean="0"/>
              <a:t>Boosting</a:t>
            </a:r>
            <a:r>
              <a:rPr lang="tr-TR" dirty="0" smtClean="0"/>
              <a:t> </a:t>
            </a:r>
            <a:r>
              <a:rPr lang="tr-TR" dirty="0" err="1" smtClean="0"/>
              <a:t>Regressor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endParaRPr lang="tr-TR" dirty="0"/>
          </a:p>
        </p:txBody>
      </p:sp>
      <p:sp>
        <p:nvSpPr>
          <p:cNvPr id="5" name="Metin kutusu 4"/>
          <p:cNvSpPr txBox="1"/>
          <p:nvPr/>
        </p:nvSpPr>
        <p:spPr>
          <a:xfrm>
            <a:off x="579288" y="3481084"/>
            <a:ext cx="9797143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dirty="0"/>
              <a:t>I propose a hybrid model that combines rule-based statistical reasoning with a machine learning model. The rule-based layer uses historical averages derived from team matchups, league rankings, and derby information to provide stable and interpretable baseline predictions. On top of this, a Gradient Boosting </a:t>
            </a:r>
            <a:r>
              <a:rPr lang="en-US" dirty="0" err="1"/>
              <a:t>Regressor</a:t>
            </a:r>
            <a:r>
              <a:rPr lang="en-US" dirty="0"/>
              <a:t> is trained using encoded team identities and numerical features. The final occupancy prediction is obtained by combining the outputs of these two layers with predefined weights, balancing interpretability and predictive power.</a:t>
            </a:r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8176071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59820" y="557348"/>
            <a:ext cx="36053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PROGRESS MADE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4" name="Metin kutusu 3"/>
          <p:cNvSpPr txBox="1"/>
          <p:nvPr/>
        </p:nvSpPr>
        <p:spPr>
          <a:xfrm>
            <a:off x="549661" y="1262743"/>
            <a:ext cx="10668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/>
              <a:t>I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created</a:t>
            </a:r>
            <a:r>
              <a:rPr lang="tr-TR" dirty="0" smtClean="0"/>
              <a:t> </a:t>
            </a:r>
            <a:r>
              <a:rPr lang="tr-TR" dirty="0" err="1" smtClean="0"/>
              <a:t>my</a:t>
            </a:r>
            <a:r>
              <a:rPr lang="tr-TR" dirty="0" smtClean="0"/>
              <a:t> </a:t>
            </a:r>
            <a:r>
              <a:rPr lang="tr-TR" dirty="0" err="1" smtClean="0"/>
              <a:t>own</a:t>
            </a:r>
            <a:r>
              <a:rPr lang="tr-TR" dirty="0" smtClean="0"/>
              <a:t> </a:t>
            </a:r>
            <a:r>
              <a:rPr lang="tr-TR" dirty="0" err="1" smtClean="0"/>
              <a:t>dataset</a:t>
            </a:r>
            <a:r>
              <a:rPr lang="tr-TR" dirty="0" smtClean="0"/>
              <a:t> </a:t>
            </a:r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 smtClean="0"/>
              <a:t>Transfermarkt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TFF </a:t>
            </a:r>
            <a:r>
              <a:rPr lang="tr-TR" dirty="0" err="1" smtClean="0"/>
              <a:t>match</a:t>
            </a:r>
            <a:r>
              <a:rPr lang="tr-TR" dirty="0" smtClean="0"/>
              <a:t> </a:t>
            </a:r>
            <a:r>
              <a:rPr lang="tr-TR" dirty="0" err="1" smtClean="0"/>
              <a:t>informations</a:t>
            </a:r>
            <a:r>
              <a:rPr lang="tr-TR" dirty="0" smtClean="0"/>
              <a:t>.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excel</a:t>
            </a:r>
            <a:r>
              <a:rPr lang="tr-TR" dirty="0" smtClean="0"/>
              <a:t> data </a:t>
            </a:r>
            <a:r>
              <a:rPr lang="tr-TR" dirty="0" err="1" smtClean="0"/>
              <a:t>includes</a:t>
            </a:r>
            <a:r>
              <a:rPr lang="tr-TR" dirty="0" smtClean="0"/>
              <a:t> </a:t>
            </a:r>
            <a:r>
              <a:rPr lang="tr-TR" dirty="0" err="1" smtClean="0"/>
              <a:t>last</a:t>
            </a:r>
            <a:r>
              <a:rPr lang="tr-TR" dirty="0" smtClean="0"/>
              <a:t> 3 </a:t>
            </a:r>
            <a:r>
              <a:rPr lang="tr-TR" dirty="0" err="1" smtClean="0"/>
              <a:t>seasons</a:t>
            </a:r>
            <a:r>
              <a:rPr lang="tr-TR" dirty="0" smtClean="0"/>
              <a:t> in </a:t>
            </a:r>
            <a:r>
              <a:rPr lang="tr-TR" dirty="0" err="1" smtClean="0"/>
              <a:t>Turkish</a:t>
            </a:r>
            <a:r>
              <a:rPr lang="tr-TR" dirty="0" smtClean="0"/>
              <a:t> </a:t>
            </a:r>
            <a:r>
              <a:rPr lang="tr-TR" dirty="0" err="1" smtClean="0"/>
              <a:t>Super</a:t>
            </a:r>
            <a:r>
              <a:rPr lang="tr-TR" dirty="0" smtClean="0"/>
              <a:t> </a:t>
            </a:r>
            <a:r>
              <a:rPr lang="tr-TR" dirty="0" err="1" smtClean="0"/>
              <a:t>League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506 </a:t>
            </a:r>
            <a:r>
              <a:rPr lang="tr-TR" dirty="0" err="1" smtClean="0"/>
              <a:t>matches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5" name="Resim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969" y="2245137"/>
            <a:ext cx="3996221" cy="4571597"/>
          </a:xfrm>
          <a:prstGeom prst="rect">
            <a:avLst/>
          </a:prstGeom>
        </p:spPr>
      </p:pic>
      <p:sp>
        <p:nvSpPr>
          <p:cNvPr id="6" name="Metin kutusu 5"/>
          <p:cNvSpPr txBox="1"/>
          <p:nvPr/>
        </p:nvSpPr>
        <p:spPr>
          <a:xfrm>
            <a:off x="4646190" y="1909074"/>
            <a:ext cx="646176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dirty="0" err="1" smtClean="0"/>
              <a:t>In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figure</a:t>
            </a:r>
            <a:r>
              <a:rPr lang="tr-TR" dirty="0" smtClean="0"/>
              <a:t>; Excel file has 9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categories</a:t>
            </a:r>
            <a:endParaRPr lang="tr-TR" dirty="0" smtClean="0"/>
          </a:p>
          <a:p>
            <a:pPr algn="just"/>
            <a:r>
              <a:rPr lang="tr-TR" b="1" dirty="0" err="1"/>
              <a:t>m</a:t>
            </a:r>
            <a:r>
              <a:rPr lang="tr-TR" b="1" dirty="0" err="1" smtClean="0"/>
              <a:t>atch_id</a:t>
            </a:r>
            <a:r>
              <a:rPr lang="tr-TR" dirty="0" smtClean="0"/>
              <a:t>: </a:t>
            </a:r>
            <a:r>
              <a:rPr lang="tr-TR" dirty="0" err="1" smtClean="0"/>
              <a:t>Match</a:t>
            </a:r>
            <a:r>
              <a:rPr lang="tr-TR" dirty="0" smtClean="0"/>
              <a:t> </a:t>
            </a:r>
            <a:r>
              <a:rPr lang="tr-TR" dirty="0" err="1" smtClean="0"/>
              <a:t>numbers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identify</a:t>
            </a:r>
            <a:endParaRPr lang="tr-TR" dirty="0" smtClean="0"/>
          </a:p>
          <a:p>
            <a:pPr algn="just"/>
            <a:r>
              <a:rPr lang="tr-TR" b="1" dirty="0" err="1"/>
              <a:t>s</a:t>
            </a:r>
            <a:r>
              <a:rPr lang="tr-TR" b="1" dirty="0" err="1" smtClean="0"/>
              <a:t>eason</a:t>
            </a:r>
            <a:r>
              <a:rPr lang="tr-TR" dirty="0" smtClean="0"/>
              <a:t>: </a:t>
            </a:r>
            <a:r>
              <a:rPr lang="tr-TR" dirty="0" err="1" smtClean="0"/>
              <a:t>Match</a:t>
            </a:r>
            <a:r>
              <a:rPr lang="tr-TR" dirty="0" smtClean="0"/>
              <a:t> </a:t>
            </a:r>
            <a:r>
              <a:rPr lang="tr-TR" dirty="0" err="1" smtClean="0"/>
              <a:t>played</a:t>
            </a:r>
            <a:r>
              <a:rPr lang="tr-TR" dirty="0" smtClean="0"/>
              <a:t> in </a:t>
            </a:r>
            <a:r>
              <a:rPr lang="tr-TR" dirty="0" err="1" smtClean="0"/>
              <a:t>which</a:t>
            </a:r>
            <a:r>
              <a:rPr lang="tr-TR" dirty="0" smtClean="0"/>
              <a:t> </a:t>
            </a:r>
            <a:r>
              <a:rPr lang="tr-TR" dirty="0" err="1" smtClean="0"/>
              <a:t>year</a:t>
            </a:r>
            <a:r>
              <a:rPr lang="tr-TR" dirty="0" smtClean="0"/>
              <a:t> (2022-23, 2023-24,2024-25)</a:t>
            </a:r>
          </a:p>
          <a:p>
            <a:pPr algn="just"/>
            <a:r>
              <a:rPr lang="tr-TR" b="1" dirty="0" err="1"/>
              <a:t>h</a:t>
            </a:r>
            <a:r>
              <a:rPr lang="tr-TR" b="1" dirty="0" err="1" smtClean="0"/>
              <a:t>ome_team</a:t>
            </a:r>
            <a:r>
              <a:rPr lang="tr-TR" dirty="0" smtClean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play</a:t>
            </a:r>
            <a:r>
              <a:rPr lang="tr-TR" dirty="0" smtClean="0"/>
              <a:t> in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own</a:t>
            </a:r>
            <a:r>
              <a:rPr lang="tr-TR" dirty="0" smtClean="0"/>
              <a:t> </a:t>
            </a:r>
            <a:r>
              <a:rPr lang="tr-TR" dirty="0" err="1" smtClean="0"/>
              <a:t>stadium</a:t>
            </a:r>
            <a:endParaRPr lang="tr-TR" dirty="0" smtClean="0"/>
          </a:p>
          <a:p>
            <a:pPr algn="just"/>
            <a:r>
              <a:rPr lang="tr-TR" b="1" dirty="0" err="1"/>
              <a:t>a</a:t>
            </a:r>
            <a:r>
              <a:rPr lang="tr-TR" b="1" dirty="0" err="1" smtClean="0"/>
              <a:t>way_team</a:t>
            </a:r>
            <a:r>
              <a:rPr lang="tr-TR" dirty="0" smtClean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hosted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home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endParaRPr lang="tr-TR" dirty="0" smtClean="0"/>
          </a:p>
          <a:p>
            <a:pPr algn="just"/>
            <a:r>
              <a:rPr lang="tr-TR" b="1" dirty="0" err="1"/>
              <a:t>a</a:t>
            </a:r>
            <a:r>
              <a:rPr lang="tr-TR" b="1" dirty="0" err="1" smtClean="0"/>
              <a:t>ttendance</a:t>
            </a:r>
            <a:r>
              <a:rPr lang="tr-TR" dirty="0" smtClean="0"/>
              <a:t>: </a:t>
            </a:r>
            <a:r>
              <a:rPr lang="en-US" dirty="0"/>
              <a:t>Number of spectators who came to watch the </a:t>
            </a:r>
            <a:r>
              <a:rPr lang="en-US" dirty="0" smtClean="0"/>
              <a:t>match</a:t>
            </a:r>
            <a:endParaRPr lang="tr-TR" dirty="0" smtClean="0"/>
          </a:p>
          <a:p>
            <a:pPr algn="just"/>
            <a:r>
              <a:rPr lang="tr-TR" b="1" dirty="0" err="1"/>
              <a:t>d</a:t>
            </a:r>
            <a:r>
              <a:rPr lang="tr-TR" b="1" dirty="0" err="1" smtClean="0"/>
              <a:t>erby</a:t>
            </a:r>
            <a:r>
              <a:rPr lang="tr-TR" dirty="0" smtClean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match</a:t>
            </a:r>
            <a:r>
              <a:rPr lang="tr-TR" dirty="0" smtClean="0"/>
              <a:t> is </a:t>
            </a:r>
            <a:r>
              <a:rPr lang="tr-TR" dirty="0" err="1" smtClean="0"/>
              <a:t>derby</a:t>
            </a:r>
            <a:r>
              <a:rPr lang="tr-TR" dirty="0" smtClean="0"/>
              <a:t> </a:t>
            </a:r>
            <a:r>
              <a:rPr lang="tr-TR" dirty="0" err="1" smtClean="0"/>
              <a:t>or</a:t>
            </a:r>
            <a:r>
              <a:rPr lang="tr-TR" dirty="0" smtClean="0"/>
              <a:t> not (1/0)</a:t>
            </a:r>
          </a:p>
          <a:p>
            <a:pPr algn="just"/>
            <a:r>
              <a:rPr lang="tr-TR" b="1" dirty="0" err="1"/>
              <a:t>c</a:t>
            </a:r>
            <a:r>
              <a:rPr lang="tr-TR" b="1" dirty="0" err="1" smtClean="0"/>
              <a:t>apacity</a:t>
            </a:r>
            <a:r>
              <a:rPr lang="tr-TR" dirty="0" smtClean="0"/>
              <a:t>: M</a:t>
            </a:r>
            <a:r>
              <a:rPr lang="en-US" dirty="0" err="1" smtClean="0"/>
              <a:t>aximum</a:t>
            </a:r>
            <a:r>
              <a:rPr lang="en-US" dirty="0" smtClean="0"/>
              <a:t> </a:t>
            </a:r>
            <a:r>
              <a:rPr lang="en-US" dirty="0"/>
              <a:t>number of spectators allowed to watch the match</a:t>
            </a:r>
            <a:endParaRPr lang="tr-TR" dirty="0" smtClean="0"/>
          </a:p>
          <a:p>
            <a:pPr algn="just"/>
            <a:r>
              <a:rPr lang="tr-TR" b="1" dirty="0" err="1"/>
              <a:t>h</a:t>
            </a:r>
            <a:r>
              <a:rPr lang="tr-TR" b="1" dirty="0" err="1" smtClean="0"/>
              <a:t>ome_rank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b="1" dirty="0" err="1" smtClean="0"/>
              <a:t>away_rank</a:t>
            </a:r>
            <a:r>
              <a:rPr lang="tr-TR" dirty="0" smtClean="0"/>
              <a:t>: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position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r>
              <a:rPr lang="tr-TR" dirty="0" smtClean="0"/>
              <a:t> </a:t>
            </a:r>
            <a:r>
              <a:rPr lang="tr-TR" dirty="0" err="1" smtClean="0"/>
              <a:t>after</a:t>
            </a:r>
            <a:r>
              <a:rPr lang="tr-TR" dirty="0" smtClean="0"/>
              <a:t> </a:t>
            </a:r>
            <a:r>
              <a:rPr lang="tr-TR" dirty="0" err="1" smtClean="0"/>
              <a:t>end</a:t>
            </a:r>
            <a:r>
              <a:rPr lang="tr-TR" dirty="0" smtClean="0"/>
              <a:t> of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season</a:t>
            </a:r>
            <a:endParaRPr lang="tr-TR" dirty="0"/>
          </a:p>
          <a:p>
            <a:r>
              <a:rPr lang="tr-TR" b="1" dirty="0" smtClean="0"/>
              <a:t>RANKS</a:t>
            </a:r>
          </a:p>
          <a:p>
            <a:pPr lvl="0"/>
            <a:r>
              <a:rPr lang="tr-TR" dirty="0" err="1"/>
              <a:t>Rank</a:t>
            </a:r>
            <a:r>
              <a:rPr lang="tr-TR" dirty="0"/>
              <a:t> 1: Championship </a:t>
            </a:r>
            <a:r>
              <a:rPr lang="tr-TR" dirty="0" err="1"/>
              <a:t>Tier</a:t>
            </a:r>
            <a:endParaRPr lang="tr-TR" dirty="0"/>
          </a:p>
          <a:p>
            <a:pPr lvl="0"/>
            <a:r>
              <a:rPr lang="tr-TR" dirty="0" err="1"/>
              <a:t>Rank</a:t>
            </a:r>
            <a:r>
              <a:rPr lang="tr-TR" dirty="0"/>
              <a:t> 2: Challenge </a:t>
            </a:r>
            <a:r>
              <a:rPr lang="tr-TR" dirty="0" err="1"/>
              <a:t>for</a:t>
            </a:r>
            <a:r>
              <a:rPr lang="tr-TR" dirty="0"/>
              <a:t> </a:t>
            </a:r>
            <a:r>
              <a:rPr lang="tr-TR" dirty="0" err="1"/>
              <a:t>European</a:t>
            </a:r>
            <a:r>
              <a:rPr lang="tr-TR" dirty="0"/>
              <a:t> </a:t>
            </a:r>
            <a:r>
              <a:rPr lang="tr-TR" dirty="0" err="1"/>
              <a:t>Leagues</a:t>
            </a:r>
            <a:endParaRPr lang="tr-TR" dirty="0"/>
          </a:p>
          <a:p>
            <a:pPr lvl="0"/>
            <a:r>
              <a:rPr lang="tr-TR" dirty="0" err="1"/>
              <a:t>Rank</a:t>
            </a:r>
            <a:r>
              <a:rPr lang="tr-TR" dirty="0"/>
              <a:t> 3: </a:t>
            </a:r>
            <a:r>
              <a:rPr lang="tr-TR" dirty="0" err="1"/>
              <a:t>Middle-Higher</a:t>
            </a:r>
            <a:endParaRPr lang="tr-TR" dirty="0"/>
          </a:p>
          <a:p>
            <a:pPr lvl="0"/>
            <a:r>
              <a:rPr lang="tr-TR" dirty="0" err="1"/>
              <a:t>Rank</a:t>
            </a:r>
            <a:r>
              <a:rPr lang="tr-TR" dirty="0"/>
              <a:t> 4: </a:t>
            </a:r>
            <a:r>
              <a:rPr lang="tr-TR" dirty="0" err="1"/>
              <a:t>Middle-Lower</a:t>
            </a:r>
            <a:endParaRPr lang="tr-TR" dirty="0"/>
          </a:p>
          <a:p>
            <a:pPr lvl="0"/>
            <a:r>
              <a:rPr lang="tr-TR" dirty="0" err="1"/>
              <a:t>Rank</a:t>
            </a:r>
            <a:r>
              <a:rPr lang="tr-TR" dirty="0"/>
              <a:t> 5: </a:t>
            </a:r>
            <a:r>
              <a:rPr lang="tr-TR" dirty="0" err="1"/>
              <a:t>Relatation</a:t>
            </a:r>
            <a:r>
              <a:rPr lang="tr-TR" dirty="0"/>
              <a:t> Battle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22068213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79416" y="531223"/>
            <a:ext cx="29173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smtClean="0">
                <a:solidFill>
                  <a:schemeClr val="bg1"/>
                </a:solidFill>
              </a:rPr>
              <a:t>PROGRESS MADE</a:t>
            </a:r>
            <a:endParaRPr lang="tr-TR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468086" y="1673889"/>
            <a:ext cx="10014857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err="1" smtClean="0"/>
              <a:t>Progress</a:t>
            </a:r>
            <a:r>
              <a:rPr lang="tr-TR" b="1" dirty="0" smtClean="0"/>
              <a:t> </a:t>
            </a:r>
            <a:r>
              <a:rPr lang="tr-TR" b="1" dirty="0" err="1" smtClean="0"/>
              <a:t>Made</a:t>
            </a:r>
            <a:r>
              <a:rPr lang="tr-TR" dirty="0" smtClean="0"/>
              <a:t>:</a:t>
            </a:r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Building</a:t>
            </a:r>
            <a:r>
              <a:rPr lang="tr-TR" dirty="0" smtClean="0"/>
              <a:t> </a:t>
            </a:r>
            <a:r>
              <a:rPr lang="tr-TR" dirty="0" err="1" smtClean="0"/>
              <a:t>Dataset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r>
              <a:rPr lang="tr-TR" dirty="0" err="1" smtClean="0"/>
              <a:t>Implemented</a:t>
            </a:r>
            <a:r>
              <a:rPr lang="tr-TR" dirty="0" smtClean="0"/>
              <a:t> </a:t>
            </a:r>
            <a:r>
              <a:rPr lang="tr-TR" dirty="0" err="1" smtClean="0"/>
              <a:t>Feature</a:t>
            </a:r>
            <a:r>
              <a:rPr lang="tr-TR" dirty="0" smtClean="0"/>
              <a:t> </a:t>
            </a:r>
            <a:r>
              <a:rPr lang="tr-TR" dirty="0" err="1" smtClean="0"/>
              <a:t>Engineering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r>
              <a:rPr lang="tr-TR" dirty="0" smtClean="0"/>
              <a:t>Full </a:t>
            </a:r>
            <a:r>
              <a:rPr lang="tr-TR" dirty="0" err="1" smtClean="0"/>
              <a:t>Prediction</a:t>
            </a:r>
            <a:r>
              <a:rPr lang="tr-TR" dirty="0" smtClean="0"/>
              <a:t> </a:t>
            </a:r>
            <a:r>
              <a:rPr lang="tr-TR" dirty="0" err="1" smtClean="0"/>
              <a:t>Pipeline</a:t>
            </a:r>
            <a:endParaRPr lang="tr-TR" dirty="0" smtClean="0"/>
          </a:p>
          <a:p>
            <a:pPr marL="342900" indent="-342900">
              <a:buFont typeface="+mj-lt"/>
              <a:buAutoNum type="arabicPeriod"/>
            </a:pPr>
            <a:endParaRPr lang="tr-TR" dirty="0"/>
          </a:p>
          <a:p>
            <a:r>
              <a:rPr lang="tr-TR" b="1" dirty="0" smtClean="0"/>
              <a:t>STRENGTHS</a:t>
            </a:r>
            <a:r>
              <a:rPr lang="tr-TR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smtClean="0"/>
              <a:t>2 </a:t>
            </a:r>
            <a:r>
              <a:rPr lang="tr-TR" dirty="0" err="1" smtClean="0"/>
              <a:t>different</a:t>
            </a:r>
            <a:r>
              <a:rPr lang="tr-TR" dirty="0" smtClean="0"/>
              <a:t> </a:t>
            </a:r>
            <a:r>
              <a:rPr lang="tr-TR" dirty="0" err="1" smtClean="0"/>
              <a:t>aproach</a:t>
            </a:r>
            <a:r>
              <a:rPr lang="tr-TR" dirty="0" smtClean="0"/>
              <a:t> </a:t>
            </a:r>
            <a:r>
              <a:rPr lang="tr-TR" dirty="0" err="1" smtClean="0"/>
              <a:t>with</a:t>
            </a:r>
            <a:r>
              <a:rPr lang="tr-TR" dirty="0" smtClean="0"/>
              <a:t> </a:t>
            </a:r>
            <a:r>
              <a:rPr lang="tr-TR" dirty="0" err="1" smtClean="0"/>
              <a:t>high</a:t>
            </a:r>
            <a:r>
              <a:rPr lang="tr-TR" dirty="0" smtClean="0"/>
              <a:t> </a:t>
            </a:r>
            <a:r>
              <a:rPr lang="tr-TR" dirty="0" err="1" smtClean="0"/>
              <a:t>accuracy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Enable</a:t>
            </a:r>
            <a:r>
              <a:rPr lang="tr-TR" dirty="0" smtClean="0"/>
              <a:t> </a:t>
            </a:r>
            <a:r>
              <a:rPr lang="tr-TR" dirty="0" err="1" smtClean="0"/>
              <a:t>user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enter</a:t>
            </a:r>
            <a:r>
              <a:rPr lang="tr-TR" dirty="0" smtClean="0"/>
              <a:t> </a:t>
            </a:r>
            <a:r>
              <a:rPr lang="tr-TR" dirty="0" err="1" smtClean="0"/>
              <a:t>any</a:t>
            </a:r>
            <a:r>
              <a:rPr lang="tr-TR" dirty="0" smtClean="0"/>
              <a:t> </a:t>
            </a:r>
            <a:r>
              <a:rPr lang="tr-TR" dirty="0" err="1" smtClean="0"/>
              <a:t>match</a:t>
            </a:r>
            <a:r>
              <a:rPr lang="tr-TR" dirty="0" smtClean="0"/>
              <a:t>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get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result</a:t>
            </a:r>
            <a:endParaRPr lang="tr-TR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tr-TR" dirty="0"/>
          </a:p>
          <a:p>
            <a:r>
              <a:rPr lang="tr-TR" b="1" dirty="0" smtClean="0"/>
              <a:t>CHALLENGES</a:t>
            </a:r>
            <a:r>
              <a:rPr lang="tr-TR" dirty="0" smtClean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rank</a:t>
            </a:r>
            <a:r>
              <a:rPr lang="tr-TR" dirty="0" smtClean="0"/>
              <a:t> </a:t>
            </a:r>
            <a:r>
              <a:rPr lang="tr-TR" dirty="0" err="1" smtClean="0"/>
              <a:t>numbers</a:t>
            </a:r>
            <a:r>
              <a:rPr lang="tr-TR" dirty="0" smtClean="0"/>
              <a:t> do not </a:t>
            </a:r>
            <a:r>
              <a:rPr lang="tr-TR" dirty="0" err="1" smtClean="0"/>
              <a:t>change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teams</a:t>
            </a:r>
            <a:r>
              <a:rPr lang="tr-TR" dirty="0" smtClean="0"/>
              <a:t> </a:t>
            </a:r>
            <a:r>
              <a:rPr lang="tr-TR" dirty="0" err="1" smtClean="0"/>
              <a:t>like</a:t>
            </a:r>
            <a:r>
              <a:rPr lang="tr-TR" dirty="0" smtClean="0"/>
              <a:t> Galatasaray </a:t>
            </a:r>
            <a:r>
              <a:rPr lang="tr-TR" dirty="0" err="1" smtClean="0"/>
              <a:t>and</a:t>
            </a:r>
            <a:r>
              <a:rPr lang="tr-TR" dirty="0" smtClean="0"/>
              <a:t> </a:t>
            </a:r>
            <a:r>
              <a:rPr lang="tr-TR" dirty="0" err="1" smtClean="0"/>
              <a:t>Fenerbahce</a:t>
            </a:r>
            <a:r>
              <a:rPr lang="tr-TR" dirty="0" smtClean="0"/>
              <a:t> </a:t>
            </a:r>
            <a:r>
              <a:rPr lang="tr-TR" dirty="0" err="1" smtClean="0"/>
              <a:t>because</a:t>
            </a:r>
            <a:r>
              <a:rPr lang="tr-TR" dirty="0" smtClean="0"/>
              <a:t> </a:t>
            </a:r>
            <a:r>
              <a:rPr lang="tr-TR" dirty="0" err="1" smtClean="0"/>
              <a:t>they</a:t>
            </a:r>
            <a:r>
              <a:rPr lang="tr-TR" dirty="0" smtClean="0"/>
              <a:t> </a:t>
            </a:r>
            <a:r>
              <a:rPr lang="tr-TR" dirty="0" err="1" smtClean="0"/>
              <a:t>were</a:t>
            </a:r>
            <a:r>
              <a:rPr lang="tr-TR" dirty="0" smtClean="0"/>
              <a:t> </a:t>
            </a:r>
            <a:r>
              <a:rPr lang="tr-TR" dirty="0" err="1" smtClean="0"/>
              <a:t>playing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championship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last</a:t>
            </a:r>
            <a:r>
              <a:rPr lang="tr-TR" dirty="0" smtClean="0"/>
              <a:t> 3 </a:t>
            </a:r>
            <a:r>
              <a:rPr lang="tr-TR" dirty="0" err="1" smtClean="0"/>
              <a:t>seasons</a:t>
            </a:r>
            <a:r>
              <a:rPr lang="tr-TR" dirty="0" smtClean="0"/>
              <a:t> </a:t>
            </a:r>
          </a:p>
          <a:p>
            <a:endParaRPr lang="tr-TR" dirty="0"/>
          </a:p>
        </p:txBody>
      </p:sp>
    </p:spTree>
    <p:extLst>
      <p:ext uri="{BB962C8B-B14F-4D97-AF65-F5344CB8AC3E}">
        <p14:creationId xmlns:p14="http://schemas.microsoft.com/office/powerpoint/2010/main" val="35373272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33863" y="522515"/>
            <a:ext cx="289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EXAMPLE OF PREDICTIONS</a:t>
            </a:r>
            <a:endParaRPr lang="tr-TR" b="1" dirty="0">
              <a:solidFill>
                <a:schemeClr val="bg1"/>
              </a:solidFill>
            </a:endParaRPr>
          </a:p>
        </p:txBody>
      </p:sp>
      <p:pic>
        <p:nvPicPr>
          <p:cNvPr id="3" name="Resim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08" y="1364427"/>
            <a:ext cx="3352811" cy="5493573"/>
          </a:xfrm>
          <a:prstGeom prst="rect">
            <a:avLst/>
          </a:prstGeom>
        </p:spPr>
      </p:pic>
      <p:pic>
        <p:nvPicPr>
          <p:cNvPr id="4" name="Resim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4898" y="1364427"/>
            <a:ext cx="2444640" cy="5493573"/>
          </a:xfrm>
          <a:prstGeom prst="rect">
            <a:avLst/>
          </a:prstGeom>
        </p:spPr>
      </p:pic>
      <p:pic>
        <p:nvPicPr>
          <p:cNvPr id="5" name="Resim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08274" y="1364427"/>
            <a:ext cx="2553056" cy="54966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68865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784123" y="557348"/>
            <a:ext cx="31437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RESULTS &amp; CONCLUSIONS</a:t>
            </a:r>
            <a:endParaRPr lang="tr-TR" b="1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838200" y="1491383"/>
            <a:ext cx="963168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When</a:t>
            </a:r>
            <a:r>
              <a:rPr lang="tr-TR" dirty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Actual</a:t>
            </a:r>
            <a:r>
              <a:rPr lang="tr-TR" dirty="0" smtClean="0"/>
              <a:t> </a:t>
            </a:r>
            <a:r>
              <a:rPr lang="tr-TR" dirty="0" err="1" smtClean="0"/>
              <a:t>vs</a:t>
            </a:r>
            <a:r>
              <a:rPr lang="tr-TR" dirty="0" smtClean="0"/>
              <a:t> </a:t>
            </a:r>
            <a:r>
              <a:rPr lang="tr-TR" dirty="0" err="1" smtClean="0"/>
              <a:t>Predicted</a:t>
            </a:r>
            <a:r>
              <a:rPr lang="tr-TR" dirty="0" smtClean="0"/>
              <a:t> </a:t>
            </a:r>
            <a:r>
              <a:rPr lang="tr-TR" dirty="0" err="1" smtClean="0"/>
              <a:t>Plot</a:t>
            </a:r>
            <a:r>
              <a:rPr lang="tr-TR" dirty="0" smtClean="0"/>
              <a:t> is </a:t>
            </a:r>
            <a:r>
              <a:rPr lang="tr-TR" dirty="0" err="1" smtClean="0"/>
              <a:t>examined</a:t>
            </a:r>
            <a:r>
              <a:rPr lang="tr-TR" dirty="0" smtClean="0"/>
              <a:t>, </a:t>
            </a:r>
            <a:r>
              <a:rPr lang="tr-TR" dirty="0" err="1"/>
              <a:t>t</a:t>
            </a:r>
            <a:r>
              <a:rPr lang="tr-TR" dirty="0" err="1" smtClean="0"/>
              <a:t>he</a:t>
            </a:r>
            <a:r>
              <a:rPr lang="tr-TR" dirty="0" smtClean="0"/>
              <a:t> </a:t>
            </a:r>
            <a:r>
              <a:rPr lang="tr-TR" dirty="0" err="1" smtClean="0"/>
              <a:t>predictions</a:t>
            </a:r>
            <a:r>
              <a:rPr lang="tr-TR" dirty="0" smtClean="0"/>
              <a:t> </a:t>
            </a:r>
            <a:r>
              <a:rPr lang="tr-TR" dirty="0" err="1" smtClean="0"/>
              <a:t>are</a:t>
            </a:r>
            <a:r>
              <a:rPr lang="tr-TR" dirty="0" smtClean="0"/>
              <a:t> </a:t>
            </a:r>
            <a:r>
              <a:rPr lang="tr-TR" dirty="0" err="1" smtClean="0"/>
              <a:t>close</a:t>
            </a:r>
            <a:r>
              <a:rPr lang="tr-TR" dirty="0" smtClean="0"/>
              <a:t> </a:t>
            </a:r>
            <a:r>
              <a:rPr lang="tr-TR" dirty="0" err="1" smtClean="0"/>
              <a:t>to</a:t>
            </a:r>
            <a:r>
              <a:rPr lang="tr-TR" dirty="0" smtClean="0"/>
              <a:t> </a:t>
            </a:r>
            <a:r>
              <a:rPr lang="tr-TR" dirty="0" err="1" smtClean="0"/>
              <a:t>their</a:t>
            </a:r>
            <a:r>
              <a:rPr lang="tr-TR" dirty="0" smtClean="0"/>
              <a:t> </a:t>
            </a:r>
            <a:r>
              <a:rPr lang="tr-TR" dirty="0" err="1" smtClean="0"/>
              <a:t>actual</a:t>
            </a:r>
            <a:r>
              <a:rPr lang="tr-TR" dirty="0" smtClean="0"/>
              <a:t> </a:t>
            </a:r>
            <a:r>
              <a:rPr lang="tr-TR" dirty="0" err="1" smtClean="0"/>
              <a:t>values</a:t>
            </a:r>
            <a:r>
              <a:rPr lang="tr-TR" dirty="0" smtClean="0"/>
              <a:t> </a:t>
            </a:r>
            <a:r>
              <a:rPr lang="tr-TR" dirty="0" err="1" smtClean="0"/>
              <a:t>especially</a:t>
            </a:r>
            <a:r>
              <a:rPr lang="tr-TR" dirty="0" smtClean="0"/>
              <a:t> in </a:t>
            </a:r>
            <a:r>
              <a:rPr lang="tr-TR" dirty="0" err="1" smtClean="0"/>
              <a:t>low</a:t>
            </a:r>
            <a:r>
              <a:rPr lang="tr-TR" dirty="0" smtClean="0"/>
              <a:t> </a:t>
            </a:r>
            <a:r>
              <a:rPr lang="tr-TR" dirty="0" err="1" smtClean="0"/>
              <a:t>occupancies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2094" y="2425419"/>
            <a:ext cx="7429692" cy="3845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7263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84941" y="518160"/>
            <a:ext cx="31111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RESULTS &amp; CONCLUSIONS</a:t>
            </a:r>
            <a:endParaRPr lang="tr-TR" b="1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>
            <a:off x="638175" y="1449860"/>
            <a:ext cx="100203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Rank</a:t>
            </a:r>
            <a:r>
              <a:rPr lang="tr-TR" dirty="0" smtClean="0"/>
              <a:t> </a:t>
            </a:r>
            <a:r>
              <a:rPr lang="tr-TR" dirty="0" err="1" smtClean="0"/>
              <a:t>Effect</a:t>
            </a:r>
            <a:r>
              <a:rPr lang="tr-TR" dirty="0" smtClean="0"/>
              <a:t> on </a:t>
            </a:r>
            <a:r>
              <a:rPr lang="tr-TR" dirty="0" err="1" smtClean="0"/>
              <a:t>Stadium</a:t>
            </a:r>
            <a:r>
              <a:rPr lang="tr-TR" dirty="0" smtClean="0"/>
              <a:t> </a:t>
            </a:r>
            <a:r>
              <a:rPr lang="tr-TR" dirty="0" err="1" smtClean="0"/>
              <a:t>Capacity</a:t>
            </a:r>
            <a:r>
              <a:rPr lang="tr-TR" dirty="0" smtClean="0"/>
              <a:t>, </a:t>
            </a:r>
            <a:r>
              <a:rPr lang="tr-TR" dirty="0" err="1" smtClean="0"/>
              <a:t>It</a:t>
            </a:r>
            <a:r>
              <a:rPr lang="tr-TR" dirty="0" smtClean="0"/>
              <a:t> is </a:t>
            </a:r>
            <a:r>
              <a:rPr lang="tr-TR" dirty="0" err="1" smtClean="0"/>
              <a:t>observed</a:t>
            </a:r>
            <a:r>
              <a:rPr lang="tr-TR" dirty="0" smtClean="0"/>
              <a:t> </a:t>
            </a:r>
            <a:r>
              <a:rPr lang="tr-TR" dirty="0" err="1" smtClean="0"/>
              <a:t>that</a:t>
            </a:r>
            <a:r>
              <a:rPr lang="tr-TR" dirty="0" smtClean="0"/>
              <a:t>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well-positioned</a:t>
            </a:r>
            <a:r>
              <a:rPr lang="tr-TR" dirty="0" smtClean="0"/>
              <a:t> </a:t>
            </a:r>
            <a:r>
              <a:rPr lang="tr-TR" dirty="0" err="1" smtClean="0"/>
              <a:t>teams</a:t>
            </a:r>
            <a:r>
              <a:rPr lang="tr-TR" dirty="0" smtClean="0"/>
              <a:t> in </a:t>
            </a:r>
            <a:r>
              <a:rPr lang="tr-TR" dirty="0" err="1" smtClean="0"/>
              <a:t>standing</a:t>
            </a:r>
            <a:r>
              <a:rPr lang="tr-TR" dirty="0" smtClean="0"/>
              <a:t>; </a:t>
            </a:r>
            <a:r>
              <a:rPr lang="tr-TR" dirty="0" err="1" smtClean="0"/>
              <a:t>home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r>
              <a:rPr lang="tr-TR" dirty="0" smtClean="0"/>
              <a:t> </a:t>
            </a:r>
            <a:r>
              <a:rPr lang="tr-TR" dirty="0" err="1" smtClean="0"/>
              <a:t>rank</a:t>
            </a:r>
            <a:r>
              <a:rPr lang="tr-TR" dirty="0" smtClean="0"/>
              <a:t> is </a:t>
            </a:r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important</a:t>
            </a:r>
            <a:r>
              <a:rPr lang="tr-TR" dirty="0" smtClean="0"/>
              <a:t>. </a:t>
            </a:r>
            <a:r>
              <a:rPr lang="tr-TR" dirty="0" err="1" smtClean="0"/>
              <a:t>In</a:t>
            </a:r>
            <a:r>
              <a:rPr lang="tr-TR" dirty="0" smtClean="0"/>
              <a:t> </a:t>
            </a:r>
            <a:r>
              <a:rPr lang="tr-TR" dirty="0" err="1" smtClean="0"/>
              <a:t>contrast</a:t>
            </a:r>
            <a:r>
              <a:rPr lang="tr-TR" dirty="0" smtClean="0"/>
              <a:t>, </a:t>
            </a:r>
            <a:r>
              <a:rPr lang="tr-TR" dirty="0" err="1" smtClean="0"/>
              <a:t>for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</a:t>
            </a:r>
            <a:r>
              <a:rPr lang="tr-TR" dirty="0" err="1" smtClean="0"/>
              <a:t>middle-low</a:t>
            </a:r>
            <a:r>
              <a:rPr lang="tr-TR" dirty="0" smtClean="0"/>
              <a:t> </a:t>
            </a:r>
            <a:r>
              <a:rPr lang="tr-TR" dirty="0" err="1" smtClean="0"/>
              <a:t>level</a:t>
            </a:r>
            <a:r>
              <a:rPr lang="tr-TR" dirty="0" smtClean="0"/>
              <a:t> </a:t>
            </a:r>
            <a:r>
              <a:rPr lang="tr-TR" dirty="0" err="1" smtClean="0"/>
              <a:t>teams</a:t>
            </a:r>
            <a:r>
              <a:rPr lang="tr-TR" dirty="0" smtClean="0"/>
              <a:t> in </a:t>
            </a:r>
            <a:r>
              <a:rPr lang="tr-TR" dirty="0" err="1" smtClean="0"/>
              <a:t>standing</a:t>
            </a:r>
            <a:r>
              <a:rPr lang="tr-TR" dirty="0" smtClean="0"/>
              <a:t>, </a:t>
            </a:r>
            <a:r>
              <a:rPr lang="tr-TR" dirty="0" err="1" smtClean="0"/>
              <a:t>away</a:t>
            </a:r>
            <a:r>
              <a:rPr lang="tr-TR" dirty="0" smtClean="0"/>
              <a:t> </a:t>
            </a:r>
            <a:r>
              <a:rPr lang="tr-TR" dirty="0" err="1" smtClean="0"/>
              <a:t>team</a:t>
            </a:r>
            <a:r>
              <a:rPr lang="tr-TR" dirty="0" smtClean="0"/>
              <a:t> </a:t>
            </a:r>
            <a:r>
              <a:rPr lang="tr-TR" dirty="0" err="1" smtClean="0"/>
              <a:t>rank</a:t>
            </a:r>
            <a:r>
              <a:rPr lang="tr-TR" dirty="0" smtClean="0"/>
              <a:t> is </a:t>
            </a:r>
            <a:r>
              <a:rPr lang="tr-TR" dirty="0" err="1" smtClean="0"/>
              <a:t>more</a:t>
            </a:r>
            <a:r>
              <a:rPr lang="tr-TR" dirty="0" smtClean="0"/>
              <a:t> </a:t>
            </a:r>
            <a:r>
              <a:rPr lang="tr-TR" dirty="0" err="1" smtClean="0"/>
              <a:t>important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0869" y="2373190"/>
            <a:ext cx="7934912" cy="4108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75698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/>
          <p:cNvSpPr txBox="1"/>
          <p:nvPr/>
        </p:nvSpPr>
        <p:spPr>
          <a:xfrm>
            <a:off x="7875709" y="558312"/>
            <a:ext cx="2628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b="1" dirty="0" smtClean="0">
                <a:solidFill>
                  <a:schemeClr val="bg1"/>
                </a:solidFill>
              </a:rPr>
              <a:t>RESULTS &amp; CONCLUSIONS</a:t>
            </a:r>
            <a:endParaRPr lang="tr-TR" b="1" dirty="0">
              <a:solidFill>
                <a:schemeClr val="bg1"/>
              </a:solidFill>
            </a:endParaRPr>
          </a:p>
        </p:txBody>
      </p:sp>
      <p:sp>
        <p:nvSpPr>
          <p:cNvPr id="3" name="Metin kutusu 2"/>
          <p:cNvSpPr txBox="1"/>
          <p:nvPr/>
        </p:nvSpPr>
        <p:spPr>
          <a:xfrm flipH="1">
            <a:off x="670725" y="1576251"/>
            <a:ext cx="96991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 err="1" smtClean="0"/>
              <a:t>From</a:t>
            </a:r>
            <a:r>
              <a:rPr lang="tr-TR" dirty="0" smtClean="0"/>
              <a:t> </a:t>
            </a:r>
            <a:r>
              <a:rPr lang="tr-TR" dirty="0" err="1" smtClean="0"/>
              <a:t>the</a:t>
            </a:r>
            <a:r>
              <a:rPr lang="tr-TR" dirty="0" smtClean="0"/>
              <a:t> bar </a:t>
            </a:r>
            <a:r>
              <a:rPr lang="tr-TR" dirty="0" err="1" smtClean="0"/>
              <a:t>graph</a:t>
            </a:r>
            <a:r>
              <a:rPr lang="tr-TR" dirty="0" smtClean="0"/>
              <a:t>, </a:t>
            </a:r>
            <a:r>
              <a:rPr lang="tr-TR" dirty="0" err="1" smtClean="0"/>
              <a:t>Derby</a:t>
            </a:r>
            <a:r>
              <a:rPr lang="tr-TR" dirty="0" smtClean="0"/>
              <a:t> </a:t>
            </a:r>
            <a:r>
              <a:rPr lang="tr-TR" dirty="0" err="1" smtClean="0"/>
              <a:t>matches</a:t>
            </a:r>
            <a:r>
              <a:rPr lang="tr-TR" dirty="0" smtClean="0"/>
              <a:t> </a:t>
            </a:r>
            <a:r>
              <a:rPr lang="tr-TR" dirty="0" err="1" smtClean="0"/>
              <a:t>have</a:t>
            </a:r>
            <a:r>
              <a:rPr lang="tr-TR" dirty="0" smtClean="0"/>
              <a:t> </a:t>
            </a:r>
            <a:r>
              <a:rPr lang="tr-TR" dirty="0" err="1" smtClean="0"/>
              <a:t>almost</a:t>
            </a:r>
            <a:r>
              <a:rPr lang="tr-TR" dirty="0" smtClean="0"/>
              <a:t> 3 </a:t>
            </a:r>
            <a:r>
              <a:rPr lang="tr-TR" dirty="0" err="1" smtClean="0"/>
              <a:t>times</a:t>
            </a:r>
            <a:r>
              <a:rPr lang="tr-TR" dirty="0" smtClean="0"/>
              <a:t> </a:t>
            </a:r>
            <a:r>
              <a:rPr lang="tr-TR" dirty="0" err="1" smtClean="0"/>
              <a:t>higher</a:t>
            </a:r>
            <a:r>
              <a:rPr lang="tr-TR" dirty="0" smtClean="0"/>
              <a:t> </a:t>
            </a:r>
            <a:r>
              <a:rPr lang="tr-TR" dirty="0" err="1" smtClean="0"/>
              <a:t>occupancy</a:t>
            </a:r>
            <a:r>
              <a:rPr lang="tr-TR" dirty="0" smtClean="0"/>
              <a:t> </a:t>
            </a:r>
            <a:r>
              <a:rPr lang="tr-TR" dirty="0" err="1" smtClean="0"/>
              <a:t>than</a:t>
            </a:r>
            <a:r>
              <a:rPr lang="tr-TR" dirty="0" smtClean="0"/>
              <a:t> </a:t>
            </a:r>
            <a:r>
              <a:rPr lang="tr-TR" dirty="0" err="1" smtClean="0"/>
              <a:t>other</a:t>
            </a:r>
            <a:r>
              <a:rPr lang="tr-TR" dirty="0" smtClean="0"/>
              <a:t> </a:t>
            </a:r>
            <a:r>
              <a:rPr lang="tr-TR" dirty="0" err="1" smtClean="0"/>
              <a:t>matches</a:t>
            </a:r>
            <a:r>
              <a:rPr lang="tr-TR" dirty="0" smtClean="0"/>
              <a:t>.</a:t>
            </a:r>
            <a:endParaRPr lang="tr-TR" dirty="0"/>
          </a:p>
        </p:txBody>
      </p:sp>
      <p:pic>
        <p:nvPicPr>
          <p:cNvPr id="4" name="Resim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5329" y="2086243"/>
            <a:ext cx="9373701" cy="4771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7056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etin kutusu 1">
            <a:extLst>
              <a:ext uri="{FF2B5EF4-FFF2-40B4-BE49-F238E27FC236}">
                <a16:creationId xmlns:a16="http://schemas.microsoft.com/office/drawing/2014/main" id="{0FA1FC64-3985-B76D-92BE-CE787F775F82}"/>
              </a:ext>
            </a:extLst>
          </p:cNvPr>
          <p:cNvSpPr txBox="1"/>
          <p:nvPr/>
        </p:nvSpPr>
        <p:spPr>
          <a:xfrm>
            <a:off x="7780606" y="572823"/>
            <a:ext cx="385252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b="1" dirty="0" smtClean="0">
                <a:solidFill>
                  <a:schemeClr val="bg1"/>
                </a:solidFill>
                <a:latin typeface="Helvetica" pitchFamily="2" charset="0"/>
              </a:rPr>
              <a:t>CONCLUSIONS &amp; FUTURE DIRECTIONS</a:t>
            </a:r>
            <a:endParaRPr lang="tr-TR" sz="1400" b="1" dirty="0">
              <a:solidFill>
                <a:schemeClr val="bg1"/>
              </a:solidFill>
              <a:latin typeface="Helvetica" pitchFamily="2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540F8B53-A653-3F29-057F-50A3914BD15A}"/>
              </a:ext>
            </a:extLst>
          </p:cNvPr>
          <p:cNvSpPr txBox="1"/>
          <p:nvPr/>
        </p:nvSpPr>
        <p:spPr>
          <a:xfrm>
            <a:off x="574833" y="1942813"/>
            <a:ext cx="820521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tr-TR" sz="1800" b="1" dirty="0" smtClean="0">
                <a:solidFill>
                  <a:srgbClr val="022756"/>
                </a:solidFill>
                <a:latin typeface="Helvetica" pitchFamily="2" charset="0"/>
              </a:rPr>
              <a:t>CONCLUSIONS: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tr-TR" sz="1800" b="1" dirty="0" smtClean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Thanks to rule-based and AI-based predictive modeling, the model can make predictions with high accuracy and low deviations.</a:t>
            </a:r>
          </a:p>
          <a:p>
            <a:pPr lvl="0">
              <a:defRPr/>
            </a:pPr>
            <a:endParaRPr lang="en-US" dirty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For higher rankings in home team matches, fans consider home team rank more than away team rank.</a:t>
            </a:r>
          </a:p>
          <a:p>
            <a:pPr lvl="0">
              <a:defRPr/>
            </a:pPr>
            <a:endParaRPr lang="en-US" dirty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Derby matches are much more preferred by fans</a:t>
            </a:r>
            <a:r>
              <a:rPr lang="en-US" dirty="0" smtClean="0">
                <a:solidFill>
                  <a:srgbClr val="022756"/>
                </a:solidFill>
                <a:latin typeface="Helvetica" pitchFamily="2" charset="0"/>
              </a:rPr>
              <a:t>.</a:t>
            </a:r>
            <a:endParaRPr lang="tr-TR" dirty="0" smtClean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endParaRPr lang="tr-TR" dirty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r>
              <a:rPr lang="tr-TR" b="1" dirty="0" smtClean="0">
                <a:solidFill>
                  <a:srgbClr val="022756"/>
                </a:solidFill>
                <a:latin typeface="Helvetica" pitchFamily="2" charset="0"/>
              </a:rPr>
              <a:t>FUTURE DIRECTIONS:</a:t>
            </a:r>
          </a:p>
          <a:p>
            <a:pPr lvl="0">
              <a:defRPr/>
            </a:pPr>
            <a:endParaRPr lang="tr-TR" b="1" dirty="0">
              <a:solidFill>
                <a:srgbClr val="022756"/>
              </a:solidFill>
              <a:latin typeface="Helvetica" pitchFamily="2" charset="0"/>
            </a:endParaRPr>
          </a:p>
          <a:p>
            <a:pPr lvl="0">
              <a:defRPr/>
            </a:pP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By examining the last 10 years instead of the last 3, the different ranking behaviors of teams like </a:t>
            </a:r>
            <a:r>
              <a:rPr lang="en-US" dirty="0" err="1">
                <a:solidFill>
                  <a:srgbClr val="022756"/>
                </a:solidFill>
                <a:latin typeface="Helvetica" pitchFamily="2" charset="0"/>
              </a:rPr>
              <a:t>Galatasaray</a:t>
            </a: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 and </a:t>
            </a:r>
            <a:r>
              <a:rPr lang="en-US" dirty="0" err="1">
                <a:solidFill>
                  <a:srgbClr val="022756"/>
                </a:solidFill>
                <a:latin typeface="Helvetica" pitchFamily="2" charset="0"/>
              </a:rPr>
              <a:t>Fenerbahçe</a:t>
            </a:r>
            <a:r>
              <a:rPr lang="en-US" dirty="0">
                <a:solidFill>
                  <a:srgbClr val="022756"/>
                </a:solidFill>
                <a:latin typeface="Helvetica" pitchFamily="2" charset="0"/>
              </a:rPr>
              <a:t> can also be studied.</a:t>
            </a:r>
            <a:endParaRPr lang="tr-TR" dirty="0">
              <a:solidFill>
                <a:srgbClr val="022756"/>
              </a:solidFill>
              <a:latin typeface="Helvetica" pitchFamily="2" charset="0"/>
            </a:endParaRPr>
          </a:p>
          <a:p>
            <a:endParaRPr lang="tr-TR" b="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5167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etin kutusu 3">
            <a:extLst>
              <a:ext uri="{FF2B5EF4-FFF2-40B4-BE49-F238E27FC236}">
                <a16:creationId xmlns:a16="http://schemas.microsoft.com/office/drawing/2014/main" id="{23A664E1-AB5E-E2E6-293A-4414EE25CA8D}"/>
              </a:ext>
            </a:extLst>
          </p:cNvPr>
          <p:cNvSpPr txBox="1"/>
          <p:nvPr/>
        </p:nvSpPr>
        <p:spPr>
          <a:xfrm>
            <a:off x="2090928" y="2385084"/>
            <a:ext cx="8010144" cy="2400657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Turkish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Super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League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Attendance</a:t>
            </a:r>
            <a:r>
              <a:rPr lang="tr-TR" sz="5000" b="1" dirty="0">
                <a:solidFill>
                  <a:srgbClr val="012855"/>
                </a:solidFill>
                <a:latin typeface="Helvetica" pitchFamily="2" charset="0"/>
              </a:rPr>
              <a:t> Rate </a:t>
            </a:r>
            <a:r>
              <a:rPr lang="tr-TR" sz="5000" b="1" dirty="0" err="1">
                <a:solidFill>
                  <a:srgbClr val="012855"/>
                </a:solidFill>
                <a:latin typeface="Helvetica" pitchFamily="2" charset="0"/>
              </a:rPr>
              <a:t>Prediction</a:t>
            </a:r>
            <a:endParaRPr lang="tr-TR" sz="5000" b="1" dirty="0">
              <a:solidFill>
                <a:srgbClr val="012855"/>
              </a:solidFill>
              <a:latin typeface="Helvetica" pitchFamily="2" charset="0"/>
            </a:endParaRPr>
          </a:p>
        </p:txBody>
      </p:sp>
      <p:sp>
        <p:nvSpPr>
          <p:cNvPr id="3" name="Metin kutusu 2">
            <a:extLst>
              <a:ext uri="{FF2B5EF4-FFF2-40B4-BE49-F238E27FC236}">
                <a16:creationId xmlns:a16="http://schemas.microsoft.com/office/drawing/2014/main" id="{F43088B5-38E7-C10F-1230-9917608E9160}"/>
              </a:ext>
            </a:extLst>
          </p:cNvPr>
          <p:cNvSpPr txBox="1"/>
          <p:nvPr/>
        </p:nvSpPr>
        <p:spPr>
          <a:xfrm>
            <a:off x="4017016" y="5221626"/>
            <a:ext cx="4157965" cy="40011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tr-TR" sz="2000" dirty="0" smtClean="0">
                <a:solidFill>
                  <a:srgbClr val="012855"/>
                </a:solidFill>
                <a:latin typeface="Helvetica Light" panose="020B0403020202020204" pitchFamily="34" charset="0"/>
              </a:rPr>
              <a:t>18</a:t>
            </a:r>
            <a:r>
              <a:rPr lang="tr-TR" sz="2000" dirty="0" smtClean="0">
                <a:solidFill>
                  <a:srgbClr val="012855"/>
                </a:solidFill>
                <a:latin typeface="Helvetica Light" panose="020B0403020202020204" pitchFamily="34" charset="0"/>
              </a:rPr>
              <a:t>.01.2025</a:t>
            </a:r>
            <a:endParaRPr lang="tr-TR" sz="2000" dirty="0">
              <a:solidFill>
                <a:srgbClr val="012855"/>
              </a:solidFill>
              <a:latin typeface="Helvetica Light" panose="020B0403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12198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eması">
  <a:themeElements>
    <a:clrScheme name="Office Teması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eması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eması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1517</TotalTime>
  <Words>692</Words>
  <Application>Microsoft Office PowerPoint</Application>
  <PresentationFormat>Geniş ekran</PresentationFormat>
  <Paragraphs>74</Paragraphs>
  <Slides>12</Slides>
  <Notes>1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12</vt:i4>
      </vt:variant>
    </vt:vector>
  </HeadingPairs>
  <TitlesOfParts>
    <vt:vector size="17" baseType="lpstr">
      <vt:lpstr>Arial</vt:lpstr>
      <vt:lpstr>Calibri</vt:lpstr>
      <vt:lpstr>Helvetica</vt:lpstr>
      <vt:lpstr>Helvetica Light</vt:lpstr>
      <vt:lpstr>Office Teması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dc:creator>Microsoft Office Kullanıcısı</dc:creator>
  <cp:lastModifiedBy>lenovo</cp:lastModifiedBy>
  <cp:revision>98</cp:revision>
  <dcterms:created xsi:type="dcterms:W3CDTF">2016-12-06T09:19:29Z</dcterms:created>
  <dcterms:modified xsi:type="dcterms:W3CDTF">2026-01-17T20:26:50Z</dcterms:modified>
</cp:coreProperties>
</file>